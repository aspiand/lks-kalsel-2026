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72" r:id="rId1"/>
  </p:sldMasterIdLst>
  <p:sldIdLst>
    <p:sldId id="256" r:id="rId2"/>
    <p:sldId id="257" r:id="rId3"/>
    <p:sldId id="276" r:id="rId4"/>
    <p:sldId id="277" r:id="rId5"/>
    <p:sldId id="261" r:id="rId6"/>
    <p:sldId id="271" r:id="rId7"/>
    <p:sldId id="268" r:id="rId8"/>
    <p:sldId id="266" r:id="rId9"/>
    <p:sldId id="269" r:id="rId10"/>
    <p:sldId id="278" r:id="rId11"/>
    <p:sldId id="267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924"/>
    <a:srgbClr val="070A13"/>
    <a:srgbClr val="681400"/>
    <a:srgbClr val="AA2200"/>
    <a:srgbClr val="1B2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580" autoAdjust="0"/>
  </p:normalViewPr>
  <p:slideViewPr>
    <p:cSldViewPr snapToGrid="0">
      <p:cViewPr varScale="1">
        <p:scale>
          <a:sx n="104" d="100"/>
          <a:sy n="104" d="100"/>
        </p:scale>
        <p:origin x="144" y="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35DE-CAA1-B2A9-D9FA-A4CFA21AC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3ACA5-90F2-ACA8-B3E2-5B973A8EF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66B23-6C1E-A1FE-023D-803861201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18CFC-BD1F-8C57-BAC0-6762C8CB8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94659-108D-98E3-B7A2-74261421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20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BED2-F21A-845A-6CB3-C663644E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DA6B-9359-AAC2-8E5A-E5B9370FF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14329-0B5F-3869-0D2D-1523F6D3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CE0DF-D43C-4DA6-1767-416C5620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F5E8-F78F-5DEB-C2EB-7D381152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14755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82D5-BDB5-B904-3DBF-C19649C6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C90D8-31DB-38A9-2D18-C20C27125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12A1C-6E62-459B-4F6B-0F898EF4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FDCF6-B482-850A-7A13-83551094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BE1BF-E278-94EF-9E57-4F2B1BAC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0565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8395-0E3F-FF2C-9F61-E934E6C2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E3AA-1B83-7590-75ED-B29CEE7FF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6F6D12-6A56-A5F1-8184-58BE4D5FB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BD26A-DD54-3D6E-9342-AFB1CED3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195F2-A8E9-F695-E095-D4C54405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F3B4D-5C3E-A61F-43B0-DFB246D9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497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39C2-ECA5-F6F0-2246-DD15E21E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C4574-A004-AD19-2C0F-8B43EACD0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B2BCF-F33E-7F5B-5896-104351A47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8BA15-13DE-7BBF-AA91-B86DFFF969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1365C-6C86-D0D1-3F9A-5F58FAA201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4F8A6-B2A7-B18B-1D14-09218B3D1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943B7-EB0C-C5BB-187B-B3ECB34A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AE006E-89A1-2D29-2225-B9529572C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698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48B9-1395-8AF5-48F7-C7A486BD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58B601-8DD4-BB99-C0E0-4C5C7C1D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CCF7F-C0F6-8D2C-C309-1D05431E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2021E-2C10-1843-35CB-A006DD3EF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7931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0523B-02C9-3CE7-A41B-492EACF3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E8B345-5CBC-A614-817B-C815A8A0C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E8DFC-F544-7FCC-70D1-205B3482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482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1A83-AC30-D32D-2D07-7E7472D4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2F4F-DE97-E9B2-6134-8C6174F69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47337-7580-BC53-0769-54297F40C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77C83-D072-7585-653F-4B4BC0C4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A5CA0-FEC6-9764-C78D-62D03665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9F895-D8AA-9E9D-FF36-ED7B4073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7467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C7AAD-B692-F405-9734-7571BECD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DC07C-4DAB-A7A1-707B-ECC9B61B3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94C21-15D0-14D8-7664-B99D2D903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93995-019D-F2FF-B9A6-78D82A32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EFB5C-ED81-8A3A-85DF-658466A1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A37B4-EC56-CCB8-5EEF-1FDEE380E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314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FD85B-AF8B-C08B-C193-11124F9B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625AB-B33E-F7E4-13E2-EA054DF3F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5FB74-D9AE-CA9B-9585-E10FEB71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B46E8-7C07-8A9B-615C-C300FB56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5B99E-A4B1-7E65-3C8E-2EFC5DCD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4271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3BF79-9958-B5F9-A99B-14BF093BC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47EE2-9AD7-0544-8B6D-CC8D50C1D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73EE-BE32-DDFB-301C-B2A0AE1B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B9E96-4774-A670-7EF9-4689A007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3E2C7-0B48-5ACE-3EB4-1D90C929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34262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64438E-8EC9-BFA1-BDF0-C996C50B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43320-017A-0A96-A74C-4B3E7ED3A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E02AF-8395-4E30-0D31-D5D6C26ED0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58F2A-778F-40B7-A37B-25A5AC8ECA3B}" type="datetimeFigureOut">
              <a:rPr lang="id-ID" smtClean="0"/>
              <a:t>01/06/2026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8BDF2-F543-A7B1-C7E3-668064141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9B4C5-DA9A-823B-1F83-0A2F5A177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7211C-12FA-4C7D-9CE3-64B19D5130B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97168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3" r:id="rId1"/>
    <p:sldLayoutId id="2147484374" r:id="rId2"/>
    <p:sldLayoutId id="2147484375" r:id="rId3"/>
    <p:sldLayoutId id="2147484376" r:id="rId4"/>
    <p:sldLayoutId id="2147484377" r:id="rId5"/>
    <p:sldLayoutId id="2147484378" r:id="rId6"/>
    <p:sldLayoutId id="2147484379" r:id="rId7"/>
    <p:sldLayoutId id="2147484380" r:id="rId8"/>
    <p:sldLayoutId id="2147484381" r:id="rId9"/>
    <p:sldLayoutId id="2147484382" r:id="rId10"/>
    <p:sldLayoutId id="21474843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docs.google.com/spreadsheets/d/1Y85Km_JGEXjzcPcGVP0SFu_QFc_iLIY-U4xrlg5S8Qo/edit?usp=sharing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1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81A874F-76FE-C5A8-CAEF-40332AF5A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4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561E-3B07-467C-84FE-A7D67E07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>
                <a:latin typeface="+mn-lt"/>
              </a:rPr>
              <a:t>DAFTAR MODULE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A9E49-1C1D-2498-28F1-998C2E4C6830}"/>
              </a:ext>
            </a:extLst>
          </p:cNvPr>
          <p:cNvSpPr/>
          <p:nvPr/>
        </p:nvSpPr>
        <p:spPr>
          <a:xfrm>
            <a:off x="6096000" y="2213472"/>
            <a:ext cx="5391149" cy="3727568"/>
          </a:xfrm>
          <a:prstGeom prst="rect">
            <a:avLst/>
          </a:prstGeom>
          <a:solidFill>
            <a:schemeClr val="bg1"/>
          </a:solidFill>
          <a:ln w="76200">
            <a:solidFill>
              <a:srgbClr val="AA2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id-ID" sz="2800" dirty="0">
                <a:solidFill>
                  <a:schemeClr val="tx1"/>
                </a:solidFill>
              </a:rPr>
              <a:t>Membuat </a:t>
            </a:r>
            <a:r>
              <a:rPr lang="en-US" sz="2800" dirty="0">
                <a:solidFill>
                  <a:schemeClr val="tx1"/>
                </a:solidFill>
              </a:rPr>
              <a:t>Rest</a:t>
            </a:r>
            <a:r>
              <a:rPr lang="id-ID" sz="2800" dirty="0">
                <a:solidFill>
                  <a:schemeClr val="tx1"/>
                </a:solidFill>
              </a:rPr>
              <a:t>ful API</a:t>
            </a:r>
            <a:endParaRPr lang="en-US" sz="2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chemeClr val="tx1"/>
                </a:solidFill>
              </a:rPr>
              <a:t>dan m</a:t>
            </a:r>
            <a:r>
              <a:rPr lang="id-ID" sz="2800" dirty="0">
                <a:solidFill>
                  <a:schemeClr val="tx1"/>
                </a:solidFill>
              </a:rPr>
              <a:t>embuat </a:t>
            </a:r>
            <a:r>
              <a:rPr lang="en-US" sz="2800" dirty="0">
                <a:solidFill>
                  <a:schemeClr val="tx1"/>
                </a:solidFill>
              </a:rPr>
              <a:t>Front End</a:t>
            </a:r>
            <a:r>
              <a:rPr lang="id-ID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sesuai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dengan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fitur</a:t>
            </a:r>
            <a:r>
              <a:rPr lang="en-US" sz="2800" dirty="0">
                <a:solidFill>
                  <a:schemeClr val="tx1"/>
                </a:solidFill>
              </a:rPr>
              <a:t> yang </a:t>
            </a:r>
            <a:r>
              <a:rPr lang="en-US" sz="2800" dirty="0" err="1">
                <a:solidFill>
                  <a:schemeClr val="tx1"/>
                </a:solidFill>
              </a:rPr>
              <a:t>diminta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0" indent="0" algn="ctr">
              <a:buNone/>
            </a:pPr>
            <a:endParaRPr lang="id-ID" sz="28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5C9F9B-8E85-CE8C-FFFD-3DAC03855D2D}"/>
              </a:ext>
            </a:extLst>
          </p:cNvPr>
          <p:cNvSpPr/>
          <p:nvPr/>
        </p:nvSpPr>
        <p:spPr>
          <a:xfrm>
            <a:off x="516591" y="2213471"/>
            <a:ext cx="5184964" cy="3727568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id-ID" sz="2800" dirty="0">
                <a:solidFill>
                  <a:schemeClr val="tx1"/>
                </a:solidFill>
              </a:rPr>
              <a:t>Membuat </a:t>
            </a:r>
            <a:r>
              <a:rPr lang="en-US" sz="2800" dirty="0">
                <a:solidFill>
                  <a:schemeClr val="tx1"/>
                </a:solidFill>
              </a:rPr>
              <a:t>app/game</a:t>
            </a:r>
            <a:r>
              <a:rPr lang="id-ID" sz="2800" dirty="0">
                <a:solidFill>
                  <a:schemeClr val="tx1"/>
                </a:solidFill>
              </a:rPr>
              <a:t> dengan menggunakan HTML, CSS &amp; Javascript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0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054C84-3B08-9F9F-760B-56ED7937B74B}"/>
              </a:ext>
            </a:extLst>
          </p:cNvPr>
          <p:cNvSpPr/>
          <p:nvPr/>
        </p:nvSpPr>
        <p:spPr>
          <a:xfrm>
            <a:off x="2042273" y="1836953"/>
            <a:ext cx="2133600" cy="753035"/>
          </a:xfrm>
          <a:prstGeom prst="round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CLIENT SIDE</a:t>
            </a:r>
            <a:endParaRPr lang="en-ID" sz="24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372DF9-236C-9433-DE9A-FCF7DA13093C}"/>
              </a:ext>
            </a:extLst>
          </p:cNvPr>
          <p:cNvSpPr/>
          <p:nvPr/>
        </p:nvSpPr>
        <p:spPr>
          <a:xfrm>
            <a:off x="7724774" y="1836953"/>
            <a:ext cx="2133600" cy="753035"/>
          </a:xfrm>
          <a:prstGeom prst="roundRect">
            <a:avLst/>
          </a:prstGeom>
          <a:solidFill>
            <a:srgbClr val="AA22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SERVER SIDE</a:t>
            </a:r>
            <a:endParaRPr lang="en-ID" sz="2400" dirty="0">
              <a:solidFill>
                <a:schemeClr val="bg1"/>
              </a:solidFill>
            </a:endParaRPr>
          </a:p>
        </p:txBody>
      </p:sp>
      <p:pic>
        <p:nvPicPr>
          <p:cNvPr id="1028" name="Picture 4" descr="Vektor Stok Multiplayer Icon Player Game Controller Icon (Tanpa Royalti)  2039280662 | Shutterstock">
            <a:extLst>
              <a:ext uri="{FF2B5EF4-FFF2-40B4-BE49-F238E27FC236}">
                <a16:creationId xmlns:a16="http://schemas.microsoft.com/office/drawing/2014/main" id="{8026B2D0-C76A-8FFA-0F91-9B6896DD50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3" t="12185" r="17421" b="19579"/>
          <a:stretch>
            <a:fillRect/>
          </a:stretch>
        </p:blipFill>
        <p:spPr bwMode="auto">
          <a:xfrm>
            <a:off x="4564835" y="4710952"/>
            <a:ext cx="889295" cy="100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30+ Computer Keyboard Wasd Gaming Buttons Stock Photos, Pictures &amp;  Royalty-Free Images - iStock">
            <a:extLst>
              <a:ext uri="{FF2B5EF4-FFF2-40B4-BE49-F238E27FC236}">
                <a16:creationId xmlns:a16="http://schemas.microsoft.com/office/drawing/2014/main" id="{BD5450AD-1CE5-2A8A-6271-B99601543E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9" t="17320" r="7517" b="24087"/>
          <a:stretch>
            <a:fillRect/>
          </a:stretch>
        </p:blipFill>
        <p:spPr bwMode="auto">
          <a:xfrm>
            <a:off x="704851" y="4954525"/>
            <a:ext cx="1249455" cy="863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reating REST API for reading data from Microsoft SQL Server in web browser  | TomazTsql">
            <a:extLst>
              <a:ext uri="{FF2B5EF4-FFF2-40B4-BE49-F238E27FC236}">
                <a16:creationId xmlns:a16="http://schemas.microsoft.com/office/drawing/2014/main" id="{52E25F17-B585-0DFB-A69F-DEBB069C5A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6937" r="12090" b="13572"/>
          <a:stretch>
            <a:fillRect/>
          </a:stretch>
        </p:blipFill>
        <p:spPr bwMode="auto">
          <a:xfrm>
            <a:off x="6284962" y="4975411"/>
            <a:ext cx="1107025" cy="744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ícone de vetor de desenvolvimento de front-end 33184709 Vetor no Vecteezy">
            <a:extLst>
              <a:ext uri="{FF2B5EF4-FFF2-40B4-BE49-F238E27FC236}">
                <a16:creationId xmlns:a16="http://schemas.microsoft.com/office/drawing/2014/main" id="{51D9B53C-BA2E-C275-8B90-7073ADA85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559" y="4645956"/>
            <a:ext cx="972485" cy="1138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02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FC7D9A-C391-27CC-560F-A2212702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258" y="1403604"/>
            <a:ext cx="5873342" cy="3692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FD561E-3B07-467C-84FE-A7D67E07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-3644"/>
            <a:ext cx="10058400" cy="1609344"/>
          </a:xfrm>
        </p:spPr>
        <p:txBody>
          <a:bodyPr/>
          <a:lstStyle/>
          <a:p>
            <a:pPr algn="ctr"/>
            <a:r>
              <a:rPr lang="id-ID" b="1" dirty="0">
                <a:latin typeface="+mn-lt"/>
              </a:rPr>
              <a:t>MODULE CLIENT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4C916-26C8-41F8-AC23-63AC715DA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359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2400" b="1" dirty="0"/>
              <a:t>Avaible Resources :</a:t>
            </a:r>
          </a:p>
          <a:p>
            <a:r>
              <a:rPr lang="id-ID" sz="2400" dirty="0"/>
              <a:t>Images Resources</a:t>
            </a:r>
            <a:endParaRPr lang="en-US" sz="2400" dirty="0"/>
          </a:p>
          <a:p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id-ID" sz="2400" b="1" dirty="0"/>
              <a:t>Requested Output :</a:t>
            </a:r>
          </a:p>
          <a:p>
            <a:r>
              <a:rPr lang="en-US" sz="2400" dirty="0"/>
              <a:t>App/</a:t>
            </a:r>
            <a:r>
              <a:rPr lang="id-ID" sz="2400" dirty="0"/>
              <a:t>Game (HTML, CSS &amp; JS)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00E29D-04AF-467D-AEC9-28E1A24CB519}"/>
              </a:ext>
            </a:extLst>
          </p:cNvPr>
          <p:cNvSpPr txBox="1">
            <a:spLocks/>
          </p:cNvSpPr>
          <p:nvPr/>
        </p:nvSpPr>
        <p:spPr>
          <a:xfrm>
            <a:off x="838200" y="3841192"/>
            <a:ext cx="5257800" cy="1319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d-ID" sz="26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AB4462-A37E-4B02-AE42-A62561D4D847}"/>
              </a:ext>
            </a:extLst>
          </p:cNvPr>
          <p:cNvSpPr txBox="1">
            <a:spLocks/>
          </p:cNvSpPr>
          <p:nvPr/>
        </p:nvSpPr>
        <p:spPr>
          <a:xfrm>
            <a:off x="838200" y="3996859"/>
            <a:ext cx="3155860" cy="1319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d-ID" sz="1800" b="1" dirty="0">
                <a:solidFill>
                  <a:srgbClr val="FF0000"/>
                </a:solidFill>
              </a:rPr>
              <a:t>Note: </a:t>
            </a:r>
            <a:endParaRPr lang="en-US" sz="18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id-ID" sz="1800" b="1" dirty="0">
                <a:solidFill>
                  <a:srgbClr val="FF0000"/>
                </a:solidFill>
              </a:rPr>
              <a:t>Tidak boleh menggunakan framework css dan js</a:t>
            </a:r>
            <a:endParaRPr lang="id-ID" sz="2000" b="1" dirty="0">
              <a:solidFill>
                <a:srgbClr val="FF0000"/>
              </a:solidFill>
            </a:endParaRPr>
          </a:p>
        </p:txBody>
      </p:sp>
      <p:pic>
        <p:nvPicPr>
          <p:cNvPr id="3074" name="Picture 2" descr="Javascript Html Css Logo, HD Png Download - kindpng">
            <a:extLst>
              <a:ext uri="{FF2B5EF4-FFF2-40B4-BE49-F238E27FC236}">
                <a16:creationId xmlns:a16="http://schemas.microsoft.com/office/drawing/2014/main" id="{FFF810B9-9965-80A7-6D75-499E72E26A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6" t="8657" r="25595" b="11567"/>
          <a:stretch>
            <a:fillRect/>
          </a:stretch>
        </p:blipFill>
        <p:spPr bwMode="auto">
          <a:xfrm>
            <a:off x="841056" y="5160818"/>
            <a:ext cx="2237709" cy="13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6959CD-9B69-C06D-81CD-9B2F87248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776" y="3562632"/>
            <a:ext cx="4769225" cy="32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8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143A-E19C-0457-9491-055D250B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8450CDE-EB95-0ECD-82BE-A094C6BCDD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27" r="15862"/>
          <a:stretch>
            <a:fillRect/>
          </a:stretch>
        </p:blipFill>
        <p:spPr>
          <a:xfrm>
            <a:off x="8126071" y="2969536"/>
            <a:ext cx="4073237" cy="3880774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8625138-A09A-E277-3AB6-6DAB5CD35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511" y="494528"/>
            <a:ext cx="6143752" cy="1061969"/>
          </a:xfrm>
        </p:spPr>
        <p:txBody>
          <a:bodyPr/>
          <a:lstStyle/>
          <a:p>
            <a:pPr algn="ctr"/>
            <a:r>
              <a:rPr lang="id-ID" b="1" dirty="0">
                <a:latin typeface="+mn-lt"/>
              </a:rPr>
              <a:t>MODULE </a:t>
            </a:r>
            <a:r>
              <a:rPr lang="en-US" b="1" dirty="0">
                <a:latin typeface="+mn-lt"/>
              </a:rPr>
              <a:t>SERVER</a:t>
            </a:r>
            <a:r>
              <a:rPr lang="id-ID" b="1" dirty="0">
                <a:latin typeface="+mn-lt"/>
              </a:rPr>
              <a:t>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A076-0E0F-6F46-7978-F809E61C9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9" y="1930400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2400" b="1" dirty="0"/>
              <a:t>Avaible Resources :</a:t>
            </a:r>
          </a:p>
          <a:p>
            <a:r>
              <a:rPr lang="en-US" sz="2400" dirty="0" err="1"/>
              <a:t>db-dump.sql</a:t>
            </a:r>
            <a:endParaRPr lang="en-US" sz="2400" dirty="0"/>
          </a:p>
          <a:p>
            <a:r>
              <a:rPr lang="en-US" sz="2400" dirty="0"/>
              <a:t>Postman Collection</a:t>
            </a:r>
          </a:p>
          <a:p>
            <a:r>
              <a:rPr lang="en-US" sz="2400" dirty="0"/>
              <a:t>Templates-</a:t>
            </a:r>
            <a:r>
              <a:rPr lang="en-US" sz="2400" dirty="0" err="1"/>
              <a:t>gui</a:t>
            </a:r>
            <a:endParaRPr lang="en-US" sz="2400" dirty="0"/>
          </a:p>
          <a:p>
            <a:r>
              <a:rPr lang="en-US" sz="2400" dirty="0"/>
              <a:t>Laravel</a:t>
            </a:r>
          </a:p>
          <a:p>
            <a:r>
              <a:rPr lang="en-US" sz="2400" dirty="0" err="1"/>
              <a:t>Vuejs</a:t>
            </a:r>
            <a:r>
              <a:rPr lang="en-US" sz="2400" dirty="0"/>
              <a:t> &amp; </a:t>
            </a:r>
            <a:r>
              <a:rPr lang="en-US" sz="2400" dirty="0" err="1"/>
              <a:t>Reactjs</a:t>
            </a:r>
            <a:endParaRPr lang="id-ID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340B36-1903-0E5D-DB0F-F0A28D44BF71}"/>
              </a:ext>
            </a:extLst>
          </p:cNvPr>
          <p:cNvSpPr txBox="1">
            <a:spLocks/>
          </p:cNvSpPr>
          <p:nvPr/>
        </p:nvSpPr>
        <p:spPr>
          <a:xfrm>
            <a:off x="3660221" y="1930400"/>
            <a:ext cx="5257800" cy="2863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d-ID" sz="2400" b="1" dirty="0"/>
              <a:t>Requested Output :</a:t>
            </a:r>
          </a:p>
          <a:p>
            <a:r>
              <a:rPr lang="id-ID" sz="2400" dirty="0"/>
              <a:t>File Project</a:t>
            </a:r>
            <a:endParaRPr lang="en-US" sz="2400" dirty="0"/>
          </a:p>
          <a:p>
            <a:pPr lvl="1"/>
            <a:r>
              <a:rPr lang="en-US" dirty="0"/>
              <a:t>Backend (Rest API)</a:t>
            </a:r>
          </a:p>
          <a:p>
            <a:pPr lvl="1"/>
            <a:r>
              <a:rPr lang="en-US" dirty="0"/>
              <a:t>Frontend (Frontend Apps)</a:t>
            </a:r>
          </a:p>
          <a:p>
            <a:r>
              <a:rPr lang="id-ID" sz="2400" dirty="0"/>
              <a:t>Export Database (.sql) </a:t>
            </a:r>
            <a:endParaRPr lang="en-US" sz="2400" dirty="0"/>
          </a:p>
          <a:p>
            <a:r>
              <a:rPr lang="id-ID" sz="2400" dirty="0"/>
              <a:t>Database Diagram (.jpg)</a:t>
            </a:r>
            <a:endParaRPr lang="en-US" sz="2400" dirty="0"/>
          </a:p>
        </p:txBody>
      </p:sp>
      <p:pic>
        <p:nvPicPr>
          <p:cNvPr id="2052" name="Picture 4" descr="Postman logo transparent PNG - StickPNG">
            <a:extLst>
              <a:ext uri="{FF2B5EF4-FFF2-40B4-BE49-F238E27FC236}">
                <a16:creationId xmlns:a16="http://schemas.microsoft.com/office/drawing/2014/main" id="{5ADAF3B6-8213-88CA-E6D6-3B1C061ED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13" y="5161851"/>
            <a:ext cx="1138518" cy="102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aravel black logo transparent PNG - StickPNG">
            <a:extLst>
              <a:ext uri="{FF2B5EF4-FFF2-40B4-BE49-F238E27FC236}">
                <a16:creationId xmlns:a16="http://schemas.microsoft.com/office/drawing/2014/main" id="{FE68FDF1-E40F-261D-EE18-A345D2026F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r="22408"/>
          <a:stretch>
            <a:fillRect/>
          </a:stretch>
        </p:blipFill>
        <p:spPr bwMode="auto">
          <a:xfrm>
            <a:off x="2291427" y="5025773"/>
            <a:ext cx="1539622" cy="142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ree React Js Logo Icons - Free Download in SVG, PNG">
            <a:extLst>
              <a:ext uri="{FF2B5EF4-FFF2-40B4-BE49-F238E27FC236}">
                <a16:creationId xmlns:a16="http://schemas.microsoft.com/office/drawing/2014/main" id="{C7D84A3B-2DBF-1739-A1A9-F540DDA4A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826" y="5205874"/>
            <a:ext cx="1048546" cy="104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ue.js full logo transparent PNG - StickPNG">
            <a:extLst>
              <a:ext uri="{FF2B5EF4-FFF2-40B4-BE49-F238E27FC236}">
                <a16:creationId xmlns:a16="http://schemas.microsoft.com/office/drawing/2014/main" id="{B4C563C1-4247-F531-2D51-7F858B4E7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193" y="5205875"/>
            <a:ext cx="1048545" cy="10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418BDD-C9F9-D6B5-00E1-B90FFEB993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724" y="146341"/>
            <a:ext cx="4466336" cy="249849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52AEF5-FE7F-0090-4545-4F818291DD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1930" y="4756998"/>
            <a:ext cx="2738045" cy="1428078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8705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C8A275-E213-4E4F-993A-7ABCE703E73B}"/>
              </a:ext>
            </a:extLst>
          </p:cNvPr>
          <p:cNvSpPr txBox="1"/>
          <p:nvPr/>
        </p:nvSpPr>
        <p:spPr>
          <a:xfrm>
            <a:off x="857250" y="1885046"/>
            <a:ext cx="4576725" cy="322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ea typeface="Arial" panose="020B0604020202020204" pitchFamily="34" charset="0"/>
              </a:rPr>
              <a:t>Measurement</a:t>
            </a:r>
          </a:p>
          <a:p>
            <a:pPr>
              <a:lnSpc>
                <a:spcPct val="150000"/>
              </a:lnSpc>
            </a:pPr>
            <a:r>
              <a:rPr lang="id-ID" i="1" dirty="0">
                <a:latin typeface="Arial" panose="020B0604020202020204" pitchFamily="34" charset="0"/>
                <a:ea typeface="Arial" panose="020B0604020202020204" pitchFamily="34" charset="0"/>
              </a:rPr>
              <a:t>Measurement adalah penilaian pasti dengan poin pasti.</a:t>
            </a:r>
          </a:p>
          <a:p>
            <a:pPr>
              <a:lnSpc>
                <a:spcPct val="150000"/>
              </a:lnSpc>
            </a:pPr>
            <a:endParaRPr lang="en-US" i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ea typeface="Arial" panose="020B0604020202020204" pitchFamily="34" charset="0"/>
              </a:rPr>
              <a:t>Judgement</a:t>
            </a:r>
            <a:endParaRPr lang="id-ID" sz="2400" b="1" dirty="0"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id-ID" i="1" dirty="0">
                <a:latin typeface="Arial" panose="020B0604020202020204" pitchFamily="34" charset="0"/>
                <a:ea typeface="Arial" panose="020B0604020202020204" pitchFamily="34" charset="0"/>
              </a:rPr>
              <a:t>Judgement adalah penilaian dengan </a:t>
            </a:r>
            <a:endParaRPr lang="en-US" i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id-ID" i="1" dirty="0">
                <a:latin typeface="Arial" panose="020B0604020202020204" pitchFamily="34" charset="0"/>
                <a:ea typeface="Arial" panose="020B0604020202020204" pitchFamily="34" charset="0"/>
              </a:rPr>
              <a:t>range nilai.</a:t>
            </a:r>
            <a:endParaRPr lang="id-ID" sz="1200" i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BFBA55-1DB3-4D8B-B8F3-F1FD9BDCC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180864"/>
              </p:ext>
            </p:extLst>
          </p:nvPr>
        </p:nvGraphicFramePr>
        <p:xfrm>
          <a:off x="5917814" y="1981886"/>
          <a:ext cx="5416936" cy="144711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751113">
                  <a:extLst>
                    <a:ext uri="{9D8B030D-6E8A-4147-A177-3AD203B41FA5}">
                      <a16:colId xmlns:a16="http://schemas.microsoft.com/office/drawing/2014/main" val="3682499241"/>
                    </a:ext>
                  </a:extLst>
                </a:gridCol>
                <a:gridCol w="1957355">
                  <a:extLst>
                    <a:ext uri="{9D8B030D-6E8A-4147-A177-3AD203B41FA5}">
                      <a16:colId xmlns:a16="http://schemas.microsoft.com/office/drawing/2014/main" val="2694073063"/>
                    </a:ext>
                  </a:extLst>
                </a:gridCol>
                <a:gridCol w="1354234">
                  <a:extLst>
                    <a:ext uri="{9D8B030D-6E8A-4147-A177-3AD203B41FA5}">
                      <a16:colId xmlns:a16="http://schemas.microsoft.com/office/drawing/2014/main" val="3443804936"/>
                    </a:ext>
                  </a:extLst>
                </a:gridCol>
                <a:gridCol w="1354234">
                  <a:extLst>
                    <a:ext uri="{9D8B030D-6E8A-4147-A177-3AD203B41FA5}">
                      <a16:colId xmlns:a16="http://schemas.microsoft.com/office/drawing/2014/main" val="795370409"/>
                    </a:ext>
                  </a:extLst>
                </a:gridCol>
              </a:tblGrid>
              <a:tr h="433866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effectLst/>
                        </a:rPr>
                        <a:t>No.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d-ID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Module</a:t>
                      </a:r>
                      <a:endParaRPr kumimoji="0" lang="id-ID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d-ID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Bobot (%)</a:t>
                      </a:r>
                      <a:endParaRPr kumimoji="0" lang="id-ID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d-ID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Waktu</a:t>
                      </a:r>
                      <a:endParaRPr kumimoji="0" lang="id-ID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2083153"/>
                  </a:ext>
                </a:extLst>
              </a:tr>
              <a:tr h="506624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</a:rPr>
                        <a:t>1</a:t>
                      </a:r>
                      <a:endParaRPr lang="id-ID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Client Side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r>
                        <a:rPr lang="id-ID" dirty="0"/>
                        <a:t>0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4</a:t>
                      </a:r>
                      <a:r>
                        <a:rPr lang="id-ID" sz="1800" dirty="0">
                          <a:effectLst/>
                        </a:rPr>
                        <a:t> Jam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2946711"/>
                  </a:ext>
                </a:extLst>
              </a:tr>
              <a:tr h="506624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effectLst/>
                        </a:rPr>
                        <a:t>2</a:t>
                      </a:r>
                      <a:endParaRPr lang="id-ID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Server Side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5</a:t>
                      </a:r>
                      <a:r>
                        <a:rPr lang="id-ID" sz="1800" dirty="0">
                          <a:effectLst/>
                        </a:rPr>
                        <a:t>0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4</a:t>
                      </a:r>
                      <a:r>
                        <a:rPr lang="id-ID" sz="1800" dirty="0">
                          <a:effectLst/>
                        </a:rPr>
                        <a:t> Jam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0946450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D8D47C-53A7-4AB9-BF59-04EB257A9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799221"/>
              </p:ext>
            </p:extLst>
          </p:nvPr>
        </p:nvGraphicFramePr>
        <p:xfrm>
          <a:off x="5917814" y="4004793"/>
          <a:ext cx="5426461" cy="1447114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751114">
                  <a:extLst>
                    <a:ext uri="{9D8B030D-6E8A-4147-A177-3AD203B41FA5}">
                      <a16:colId xmlns:a16="http://schemas.microsoft.com/office/drawing/2014/main" val="3682499241"/>
                    </a:ext>
                  </a:extLst>
                </a:gridCol>
                <a:gridCol w="4675347">
                  <a:extLst>
                    <a:ext uri="{9D8B030D-6E8A-4147-A177-3AD203B41FA5}">
                      <a16:colId xmlns:a16="http://schemas.microsoft.com/office/drawing/2014/main" val="2694073063"/>
                    </a:ext>
                  </a:extLst>
                </a:gridCol>
              </a:tblGrid>
              <a:tr h="433866"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effectLst/>
                        </a:rPr>
                        <a:t>No.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d-ID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Jenis Penilaian</a:t>
                      </a:r>
                      <a:endParaRPr kumimoji="0" lang="id-ID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2083153"/>
                  </a:ext>
                </a:extLst>
              </a:tr>
              <a:tr h="506624">
                <a:tc>
                  <a:txBody>
                    <a:bodyPr/>
                    <a:lstStyle/>
                    <a:p>
                      <a:pPr algn="ctr"/>
                      <a:r>
                        <a:rPr lang="id-ID" b="0" dirty="0"/>
                        <a:t>1</a:t>
                      </a:r>
                      <a:endParaRPr lang="id-ID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Measurement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32114291"/>
                  </a:ext>
                </a:extLst>
              </a:tr>
              <a:tr h="506624">
                <a:tc>
                  <a:txBody>
                    <a:bodyPr/>
                    <a:lstStyle/>
                    <a:p>
                      <a:pPr algn="ctr"/>
                      <a:r>
                        <a:rPr lang="id-ID" sz="1800" b="0" dirty="0">
                          <a:effectLst/>
                        </a:rPr>
                        <a:t>2</a:t>
                      </a:r>
                      <a:endParaRPr lang="id-ID" sz="14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Judgement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946711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1B327-7D96-F51E-AF29-67A93280E040}"/>
              </a:ext>
            </a:extLst>
          </p:cNvPr>
          <p:cNvSpPr txBox="1">
            <a:spLocks/>
          </p:cNvSpPr>
          <p:nvPr/>
        </p:nvSpPr>
        <p:spPr>
          <a:xfrm>
            <a:off x="775203" y="5540949"/>
            <a:ext cx="10966887" cy="1319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d-ID" sz="2000" b="1" dirty="0">
                <a:solidFill>
                  <a:srgbClr val="FF0000"/>
                </a:solidFill>
              </a:rPr>
              <a:t>Note:</a:t>
            </a:r>
            <a:endParaRPr lang="en-US" sz="20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 err="1">
                <a:solidFill>
                  <a:srgbClr val="FF0000"/>
                </a:solidFill>
              </a:rPr>
              <a:t>Soal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akan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berubah</a:t>
            </a:r>
            <a:r>
              <a:rPr lang="en-US" sz="2000" b="1" dirty="0">
                <a:solidFill>
                  <a:srgbClr val="FF0000"/>
                </a:solidFill>
              </a:rPr>
              <a:t> minimal 30% </a:t>
            </a:r>
            <a:r>
              <a:rPr lang="en-US" sz="2000" b="1" dirty="0" err="1">
                <a:solidFill>
                  <a:srgbClr val="FF0000"/>
                </a:solidFill>
              </a:rPr>
              <a:t>dari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kisi-kisi</a:t>
            </a:r>
            <a:r>
              <a:rPr lang="en-US" sz="2000" b="1" dirty="0">
                <a:solidFill>
                  <a:srgbClr val="FF0000"/>
                </a:solidFill>
              </a:rPr>
              <a:t> yang </a:t>
            </a:r>
            <a:r>
              <a:rPr lang="en-US" sz="2000" b="1" dirty="0" err="1">
                <a:solidFill>
                  <a:srgbClr val="FF0000"/>
                </a:solidFill>
              </a:rPr>
              <a:t>sudah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diberikan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  <a:endParaRPr lang="id-ID" sz="2400" b="1" dirty="0">
              <a:solidFill>
                <a:srgbClr val="FF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C9943C-1ECF-0116-80B4-3635E489B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-3644"/>
            <a:ext cx="10058400" cy="1609344"/>
          </a:xfrm>
        </p:spPr>
        <p:txBody>
          <a:bodyPr/>
          <a:lstStyle/>
          <a:p>
            <a:pPr algn="ctr"/>
            <a:r>
              <a:rPr lang="en-US" b="1" dirty="0" err="1">
                <a:latin typeface="+mn-lt"/>
              </a:rPr>
              <a:t>Sistem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penilaian</a:t>
            </a:r>
            <a:endParaRPr lang="id-ID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4162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BC3A2-E653-F719-A8F9-08BEC6E9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24FB653-D37B-C03F-A8C6-894C5C66207B}"/>
              </a:ext>
            </a:extLst>
          </p:cNvPr>
          <p:cNvSpPr/>
          <p:nvPr/>
        </p:nvSpPr>
        <p:spPr>
          <a:xfrm>
            <a:off x="8774545" y="-92364"/>
            <a:ext cx="3528291" cy="7075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C156-7C32-9F90-F718-DBE992840070}"/>
              </a:ext>
            </a:extLst>
          </p:cNvPr>
          <p:cNvSpPr txBox="1">
            <a:spLocks/>
          </p:cNvSpPr>
          <p:nvPr/>
        </p:nvSpPr>
        <p:spPr>
          <a:xfrm>
            <a:off x="1063748" y="5538374"/>
            <a:ext cx="9900772" cy="1319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id-ID" sz="26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36297A-355E-FDCC-34D2-BF2BD9DD2D89}"/>
              </a:ext>
            </a:extLst>
          </p:cNvPr>
          <p:cNvSpPr txBox="1"/>
          <p:nvPr/>
        </p:nvSpPr>
        <p:spPr>
          <a:xfrm>
            <a:off x="8847375" y="1870932"/>
            <a:ext cx="3073905" cy="4031873"/>
          </a:xfrm>
          <a:prstGeom prst="rect">
            <a:avLst/>
          </a:prstGeom>
          <a:noFill/>
          <a:ln w="76200">
            <a:solidFill>
              <a:srgbClr val="AA2200"/>
            </a:solidFill>
          </a:ln>
        </p:spPr>
        <p:txBody>
          <a:bodyPr wrap="square">
            <a:spAutoFit/>
          </a:bodyPr>
          <a:lstStyle/>
          <a:p>
            <a:endParaRPr lang="en-US" sz="7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</a:rPr>
              <a:t>  </a:t>
            </a:r>
            <a:r>
              <a:rPr lang="en-US" sz="2400" b="1" dirty="0" err="1">
                <a:latin typeface="Arial" panose="020B0604020202020204" pitchFamily="34" charset="0"/>
                <a:ea typeface="Arial" panose="020B0604020202020204" pitchFamily="34" charset="0"/>
              </a:rPr>
              <a:t>Contoh</a:t>
            </a:r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ea typeface="Arial" panose="020B0604020202020204" pitchFamily="34" charset="0"/>
              </a:rPr>
              <a:t>Penilaian</a:t>
            </a:r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</a:rPr>
              <a:t>   </a:t>
            </a:r>
          </a:p>
          <a:p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</a:rPr>
              <a:t>  Judgement</a:t>
            </a:r>
          </a:p>
          <a:p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_________________</a:t>
            </a:r>
          </a:p>
          <a:p>
            <a:r>
              <a:rPr lang="en-US" sz="12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b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  Jika </a:t>
            </a:r>
            <a:r>
              <a:rPr lang="en-US" sz="2400" dirty="0" err="1">
                <a:latin typeface="Arial" panose="020B0604020202020204" pitchFamily="34" charset="0"/>
                <a:ea typeface="Arial" panose="020B0604020202020204" pitchFamily="34" charset="0"/>
              </a:rPr>
              <a:t>nilai</a:t>
            </a: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Arial" panose="020B0604020202020204" pitchFamily="34" charset="0"/>
              </a:rPr>
              <a:t>masuk</a:t>
            </a: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   </a:t>
            </a:r>
          </a:p>
          <a:p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  </a:t>
            </a:r>
            <a:r>
              <a:rPr lang="en-US" sz="2400" dirty="0" err="1">
                <a:latin typeface="Arial" panose="020B0604020202020204" pitchFamily="34" charset="0"/>
                <a:ea typeface="Arial" panose="020B0604020202020204" pitchFamily="34" charset="0"/>
              </a:rPr>
              <a:t>dalam</a:t>
            </a: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ea typeface="Arial" panose="020B0604020202020204" pitchFamily="34" charset="0"/>
              </a:rPr>
              <a:t>kriteria</a:t>
            </a:r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 2</a:t>
            </a:r>
          </a:p>
          <a:p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_________________</a:t>
            </a:r>
          </a:p>
          <a:p>
            <a:r>
              <a:rPr lang="en-US" sz="1200" dirty="0"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2400" b="1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</a:rPr>
              <a:t>  </a:t>
            </a:r>
            <a:r>
              <a:rPr lang="en-US" sz="2400" b="1" dirty="0" err="1">
                <a:latin typeface="Arial" panose="020B0604020202020204" pitchFamily="34" charset="0"/>
                <a:ea typeface="Arial" panose="020B0604020202020204" pitchFamily="34" charset="0"/>
              </a:rPr>
              <a:t>Perhitungan</a:t>
            </a:r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</a:rPr>
              <a:t>:</a:t>
            </a:r>
          </a:p>
          <a:p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  Nilai = 2/3 * 3 </a:t>
            </a:r>
          </a:p>
          <a:p>
            <a:r>
              <a:rPr lang="en-US" sz="2400" dirty="0">
                <a:latin typeface="Arial" panose="020B0604020202020204" pitchFamily="34" charset="0"/>
                <a:ea typeface="Arial" panose="020B0604020202020204" pitchFamily="34" charset="0"/>
              </a:rPr>
              <a:t>        </a:t>
            </a:r>
            <a:r>
              <a:rPr lang="en-US" sz="2400" b="1" dirty="0">
                <a:latin typeface="Arial" panose="020B0604020202020204" pitchFamily="34" charset="0"/>
                <a:ea typeface="Arial" panose="020B0604020202020204" pitchFamily="34" charset="0"/>
              </a:rPr>
              <a:t>  = 2</a:t>
            </a:r>
            <a:endParaRPr lang="id-ID" sz="16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7A446F-8170-23E3-CFF7-A8E8A2F39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2" y="0"/>
            <a:ext cx="8449733" cy="68580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B4B91D62-137D-B07B-6CA9-98EF01EA99B2}"/>
              </a:ext>
            </a:extLst>
          </p:cNvPr>
          <p:cNvSpPr txBox="1">
            <a:spLocks/>
          </p:cNvSpPr>
          <p:nvPr/>
        </p:nvSpPr>
        <p:spPr>
          <a:xfrm>
            <a:off x="2161310" y="3579092"/>
            <a:ext cx="2373746" cy="498762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Judgement</a:t>
            </a:r>
            <a:endParaRPr lang="id-ID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F541DD-00E8-7540-7233-CE3337C41414}"/>
              </a:ext>
            </a:extLst>
          </p:cNvPr>
          <p:cNvSpPr txBox="1">
            <a:spLocks/>
          </p:cNvSpPr>
          <p:nvPr/>
        </p:nvSpPr>
        <p:spPr>
          <a:xfrm>
            <a:off x="2161310" y="387657"/>
            <a:ext cx="2373746" cy="498762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>
                <a:solidFill>
                  <a:schemeClr val="bg1"/>
                </a:solidFill>
                <a:latin typeface="+mn-lt"/>
              </a:rPr>
              <a:t>Measurement</a:t>
            </a:r>
            <a:endParaRPr lang="id-ID" sz="24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832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F286-D21D-4CE6-8F2B-C75BC0496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1597981"/>
            <a:ext cx="4225771" cy="2024108"/>
          </a:xfrm>
        </p:spPr>
        <p:txBody>
          <a:bodyPr>
            <a:normAutofit/>
          </a:bodyPr>
          <a:lstStyle/>
          <a:p>
            <a:pPr algn="ctr"/>
            <a:r>
              <a:rPr lang="id-ID" sz="4000" b="1" dirty="0">
                <a:latin typeface="+mn-lt"/>
              </a:rPr>
              <a:t>Schedule</a:t>
            </a:r>
            <a:br>
              <a:rPr lang="id-ID" sz="4000" b="1" dirty="0">
                <a:latin typeface="+mn-lt"/>
              </a:rPr>
            </a:br>
            <a:r>
              <a:rPr lang="id-ID" sz="4000" b="1" dirty="0">
                <a:latin typeface="+mn-lt"/>
              </a:rPr>
              <a:t>Pelaksanaan</a:t>
            </a:r>
            <a:br>
              <a:rPr lang="id-ID" sz="4000" b="1" dirty="0">
                <a:latin typeface="+mn-lt"/>
              </a:rPr>
            </a:br>
            <a:r>
              <a:rPr lang="id-ID" sz="4000" b="1" dirty="0">
                <a:latin typeface="+mn-lt"/>
              </a:rPr>
              <a:t>Lomba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8A275-E213-4E4F-993A-7ABCE703E73B}"/>
              </a:ext>
            </a:extLst>
          </p:cNvPr>
          <p:cNvSpPr txBox="1"/>
          <p:nvPr/>
        </p:nvSpPr>
        <p:spPr>
          <a:xfrm>
            <a:off x="597023" y="4264100"/>
            <a:ext cx="3832934" cy="128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Note : Jadwal pelaksanaan lomba bisa berubah sesuai dengan keadaan ketika pelaksanaan lomba.</a:t>
            </a:r>
            <a:endParaRPr lang="id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7C5B5B-9B90-2DA7-BE0F-4A391DDF6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271084"/>
              </p:ext>
            </p:extLst>
          </p:nvPr>
        </p:nvGraphicFramePr>
        <p:xfrm>
          <a:off x="4864961" y="1200696"/>
          <a:ext cx="6730016" cy="4456607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623868">
                  <a:extLst>
                    <a:ext uri="{9D8B030D-6E8A-4147-A177-3AD203B41FA5}">
                      <a16:colId xmlns:a16="http://schemas.microsoft.com/office/drawing/2014/main" val="3080783340"/>
                    </a:ext>
                  </a:extLst>
                </a:gridCol>
                <a:gridCol w="928391">
                  <a:extLst>
                    <a:ext uri="{9D8B030D-6E8A-4147-A177-3AD203B41FA5}">
                      <a16:colId xmlns:a16="http://schemas.microsoft.com/office/drawing/2014/main" val="2704270209"/>
                    </a:ext>
                  </a:extLst>
                </a:gridCol>
                <a:gridCol w="4177757">
                  <a:extLst>
                    <a:ext uri="{9D8B030D-6E8A-4147-A177-3AD203B41FA5}">
                      <a16:colId xmlns:a16="http://schemas.microsoft.com/office/drawing/2014/main" val="3682499241"/>
                    </a:ext>
                  </a:extLst>
                </a:gridCol>
              </a:tblGrid>
              <a:tr h="365343">
                <a:tc gridSpan="2"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Waktu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Kegiatan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2083153"/>
                  </a:ext>
                </a:extLst>
              </a:tr>
              <a:tr h="404063">
                <a:tc gridSpan="3"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effectLst/>
                        </a:rPr>
                        <a:t>Lomba Hari  Pertam</a:t>
                      </a:r>
                      <a:r>
                        <a:rPr lang="en-US" sz="1800" dirty="0">
                          <a:effectLst/>
                        </a:rPr>
                        <a:t>a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081654"/>
                  </a:ext>
                </a:extLst>
              </a:tr>
              <a:tr h="426610"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0</a:t>
                      </a:r>
                      <a:r>
                        <a:rPr lang="en-US" sz="1800" dirty="0">
                          <a:effectLst/>
                        </a:rPr>
                        <a:t>8</a:t>
                      </a:r>
                      <a:r>
                        <a:rPr lang="id-ID" sz="1800" dirty="0">
                          <a:effectLst/>
                        </a:rPr>
                        <a:t>.00 – 0</a:t>
                      </a:r>
                      <a:r>
                        <a:rPr lang="en-US" sz="1800" dirty="0">
                          <a:effectLst/>
                        </a:rPr>
                        <a:t>8</a:t>
                      </a:r>
                      <a:r>
                        <a:rPr lang="id-ID" sz="1800" dirty="0">
                          <a:effectLst/>
                        </a:rPr>
                        <a:t>.30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effectLst/>
                        </a:rPr>
                        <a:t>30’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Persiapan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63147"/>
                  </a:ext>
                </a:extLst>
              </a:tr>
              <a:tr h="42661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08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 – </a:t>
                      </a:r>
                      <a:r>
                        <a:rPr lang="en-US" sz="1800" dirty="0">
                          <a:effectLst/>
                        </a:rPr>
                        <a:t>12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24</a:t>
                      </a:r>
                      <a:r>
                        <a:rPr lang="id-ID" sz="1800" dirty="0">
                          <a:effectLst/>
                        </a:rPr>
                        <a:t>0’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Mengerjakan Modul Client Side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4799855"/>
                  </a:ext>
                </a:extLst>
              </a:tr>
              <a:tr h="426610"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1</a:t>
                      </a:r>
                      <a:r>
                        <a:rPr lang="en-US" sz="1800" dirty="0">
                          <a:effectLst/>
                        </a:rPr>
                        <a:t>2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 – 1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effectLst/>
                        </a:rPr>
                        <a:t>60’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Isoma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5897440"/>
                  </a:ext>
                </a:extLst>
              </a:tr>
              <a:tr h="426610"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1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 – </a:t>
                      </a:r>
                      <a:r>
                        <a:rPr lang="en-US" sz="1800" dirty="0" err="1">
                          <a:effectLst/>
                        </a:rPr>
                        <a:t>Selesai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Penilaian Hari Pertama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34485979"/>
                  </a:ext>
                </a:extLst>
              </a:tr>
              <a:tr h="404063">
                <a:tc gridSpan="3"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effectLst/>
                        </a:rPr>
                        <a:t>Lomba Hari Kedua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289518"/>
                  </a:ext>
                </a:extLst>
              </a:tr>
              <a:tr h="426610"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0</a:t>
                      </a:r>
                      <a:r>
                        <a:rPr lang="en-US" sz="1800" dirty="0">
                          <a:effectLst/>
                        </a:rPr>
                        <a:t>8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0</a:t>
                      </a:r>
                      <a:r>
                        <a:rPr lang="id-ID" sz="1800" dirty="0">
                          <a:effectLst/>
                        </a:rPr>
                        <a:t>0 – 0</a:t>
                      </a:r>
                      <a:r>
                        <a:rPr lang="en-US" sz="1800" dirty="0">
                          <a:effectLst/>
                        </a:rPr>
                        <a:t>8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effectLst/>
                        </a:rPr>
                        <a:t>30’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Persiapan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62020162"/>
                  </a:ext>
                </a:extLst>
              </a:tr>
              <a:tr h="426610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08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 – </a:t>
                      </a:r>
                      <a:r>
                        <a:rPr lang="en-US" sz="1800" dirty="0">
                          <a:effectLst/>
                        </a:rPr>
                        <a:t>12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24</a:t>
                      </a:r>
                      <a:r>
                        <a:rPr lang="id-ID" sz="1800" dirty="0">
                          <a:effectLst/>
                        </a:rPr>
                        <a:t>0’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Mengerjakan Modul </a:t>
                      </a:r>
                      <a:r>
                        <a:rPr lang="en-US" sz="1800" dirty="0">
                          <a:effectLst/>
                        </a:rPr>
                        <a:t>Server Side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9272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1</a:t>
                      </a:r>
                      <a:r>
                        <a:rPr lang="en-US" sz="1800" dirty="0">
                          <a:effectLst/>
                        </a:rPr>
                        <a:t>2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 – 1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800" dirty="0">
                          <a:effectLst/>
                        </a:rPr>
                        <a:t>60’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Isoma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13518650"/>
                  </a:ext>
                </a:extLst>
              </a:tr>
              <a:tr h="449158">
                <a:tc>
                  <a:txBody>
                    <a:bodyPr/>
                    <a:lstStyle/>
                    <a:p>
                      <a:r>
                        <a:rPr lang="id-ID" sz="1800" dirty="0">
                          <a:effectLst/>
                        </a:rPr>
                        <a:t>1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.</a:t>
                      </a:r>
                      <a:r>
                        <a:rPr lang="en-US" sz="1800" dirty="0">
                          <a:effectLst/>
                        </a:rPr>
                        <a:t>3</a:t>
                      </a:r>
                      <a:r>
                        <a:rPr lang="id-ID" sz="1800" dirty="0">
                          <a:effectLst/>
                        </a:rPr>
                        <a:t>0 – </a:t>
                      </a:r>
                      <a:r>
                        <a:rPr lang="en-US" sz="1800" dirty="0" err="1">
                          <a:effectLst/>
                        </a:rPr>
                        <a:t>Selesai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-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800" dirty="0">
                          <a:effectLst/>
                        </a:rPr>
                        <a:t>Penilaian Hari Kedua</a:t>
                      </a:r>
                      <a:endParaRPr lang="id-ID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55535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49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561E-3B07-467C-84FE-A7D67E07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>
                <a:latin typeface="+mn-lt"/>
              </a:rPr>
              <a:t>Spesifikasi Software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3C64A-1F37-46F3-9CEE-D8BD7AB09E48}"/>
              </a:ext>
            </a:extLst>
          </p:cNvPr>
          <p:cNvSpPr txBox="1"/>
          <p:nvPr/>
        </p:nvSpPr>
        <p:spPr>
          <a:xfrm>
            <a:off x="1266824" y="2287341"/>
            <a:ext cx="5116013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XAMPP 8.2.12 (or TLS)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Sublime Text Editor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Notepad++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VS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Brackets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Microsoft Office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Chrome</a:t>
            </a:r>
            <a:endParaRPr lang="id-ID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4FB5A-C5B5-417B-850C-4B56E64DCE55}"/>
              </a:ext>
            </a:extLst>
          </p:cNvPr>
          <p:cNvSpPr txBox="1"/>
          <p:nvPr/>
        </p:nvSpPr>
        <p:spPr>
          <a:xfrm>
            <a:off x="6524625" y="2283014"/>
            <a:ext cx="4461164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PHPStorm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MySQL Workbench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Git</a:t>
            </a:r>
            <a:endParaRPr lang="id-ID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Composer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Node.js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d-ID" sz="2000" dirty="0"/>
              <a:t>Postman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Ultraviewer</a:t>
            </a:r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113297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561E-3B07-467C-84FE-A7D67E07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>
                <a:latin typeface="+mn-lt"/>
              </a:rPr>
              <a:t>Spesifikasi </a:t>
            </a:r>
            <a:r>
              <a:rPr lang="en-US" b="1" dirty="0">
                <a:latin typeface="+mn-lt"/>
              </a:rPr>
              <a:t>Hardware</a:t>
            </a:r>
            <a:endParaRPr lang="id-ID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3C64A-1F37-46F3-9CEE-D8BD7AB09E48}"/>
              </a:ext>
            </a:extLst>
          </p:cNvPr>
          <p:cNvSpPr txBox="1"/>
          <p:nvPr/>
        </p:nvSpPr>
        <p:spPr>
          <a:xfrm>
            <a:off x="1266824" y="2003705"/>
            <a:ext cx="5116013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/>
              <a:t>Prosessor</a:t>
            </a:r>
            <a:r>
              <a:rPr lang="en-GB" sz="2000" dirty="0"/>
              <a:t> intel i5 gen 8 or higher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RAM 4GB or higher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SSD 250GB or higher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Operating System Windows</a:t>
            </a:r>
            <a:endParaRPr lang="id-ID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4FB5A-C5B5-417B-850C-4B56E64DCE55}"/>
              </a:ext>
            </a:extLst>
          </p:cNvPr>
          <p:cNvSpPr txBox="1"/>
          <p:nvPr/>
        </p:nvSpPr>
        <p:spPr>
          <a:xfrm>
            <a:off x="6524625" y="1999378"/>
            <a:ext cx="446116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Mouse, Mousepad, Keyboard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/>
              <a:t>Meja</a:t>
            </a:r>
            <a:r>
              <a:rPr lang="en-GB" sz="2000" dirty="0"/>
              <a:t> </a:t>
            </a:r>
            <a:r>
              <a:rPr lang="en-GB" sz="2000" dirty="0" err="1"/>
              <a:t>Komputer</a:t>
            </a:r>
            <a:endParaRPr lang="en-GB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/>
              <a:t>Kursi</a:t>
            </a:r>
            <a:endParaRPr lang="id-ID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0B6A1-D97E-0F70-7BDC-BCFC363EE2FB}"/>
              </a:ext>
            </a:extLst>
          </p:cNvPr>
          <p:cNvSpPr txBox="1">
            <a:spLocks/>
          </p:cNvSpPr>
          <p:nvPr/>
        </p:nvSpPr>
        <p:spPr>
          <a:xfrm>
            <a:off x="1085018" y="4406240"/>
            <a:ext cx="9900772" cy="1319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id-ID" sz="2400" b="1" dirty="0">
                <a:solidFill>
                  <a:srgbClr val="FF0000"/>
                </a:solidFill>
              </a:rPr>
              <a:t>Note: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Mouse dan </a:t>
            </a:r>
            <a:r>
              <a:rPr lang="en-US" sz="2400" b="1" dirty="0" err="1">
                <a:solidFill>
                  <a:srgbClr val="FF0000"/>
                </a:solidFill>
              </a:rPr>
              <a:t>Keboard</a:t>
            </a:r>
            <a:r>
              <a:rPr lang="en-US" sz="2400" b="1" dirty="0">
                <a:solidFill>
                  <a:srgbClr val="FF0000"/>
                </a:solidFill>
              </a:rPr>
              <a:t> yang </a:t>
            </a:r>
            <a:r>
              <a:rPr lang="en-US" sz="2400" b="1" dirty="0" err="1">
                <a:solidFill>
                  <a:srgbClr val="FF0000"/>
                </a:solidFill>
              </a:rPr>
              <a:t>digunakan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tidak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boleh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menggunakan</a:t>
            </a:r>
            <a:r>
              <a:rPr lang="en-US" sz="2400" b="1" dirty="0">
                <a:solidFill>
                  <a:srgbClr val="FF0000"/>
                </a:solidFill>
              </a:rPr>
              <a:t> memory</a:t>
            </a:r>
            <a:endParaRPr lang="id-ID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01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3F98-442A-2B06-9858-89972673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PLUGIN VSCODE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A7752-1883-28E7-FBF0-48BB2F1A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https://docs.google.com/spreadsheets/d/1Y85Km_JGEXjzcPcGVP0SFu_QFc_iLIY-U4xrlg5S8Qo/edit?usp=sharing</a:t>
            </a:r>
            <a:r>
              <a:rPr lang="en-ID" dirty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4100" name="Picture 4" descr="Critical Flaws Found in Four VS Code Extensions with Over 125 Million  Installs">
            <a:extLst>
              <a:ext uri="{FF2B5EF4-FFF2-40B4-BE49-F238E27FC236}">
                <a16:creationId xmlns:a16="http://schemas.microsoft.com/office/drawing/2014/main" id="{BDBDDA41-A4EE-2435-A301-A0CCEAEC89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0" t="10117" r="11094" b="8187"/>
          <a:stretch>
            <a:fillRect/>
          </a:stretch>
        </p:blipFill>
        <p:spPr bwMode="auto">
          <a:xfrm>
            <a:off x="3199245" y="3159459"/>
            <a:ext cx="5793510" cy="315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11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561E-3B07-467C-84FE-A7D67E07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+mn-lt"/>
              </a:rPr>
              <a:t>Posisi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Kamera</a:t>
            </a:r>
            <a:endParaRPr lang="id-ID" b="1" dirty="0">
              <a:latin typeface="+mn-lt"/>
            </a:endParaRPr>
          </a:p>
        </p:txBody>
      </p:sp>
      <p:pic>
        <p:nvPicPr>
          <p:cNvPr id="1026" name="Picture 2" descr="Diagram&#10;&#10;Description automatically generated">
            <a:extLst>
              <a:ext uri="{FF2B5EF4-FFF2-40B4-BE49-F238E27FC236}">
                <a16:creationId xmlns:a16="http://schemas.microsoft.com/office/drawing/2014/main" id="{0693BA80-A1D2-341D-C48E-219898B2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143" y="1393581"/>
            <a:ext cx="8420100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0935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561E-3B07-467C-84FE-A7D67E07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+mn-lt"/>
              </a:rPr>
              <a:t>Posisi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>
                <a:latin typeface="+mn-lt"/>
              </a:rPr>
              <a:t>Kamera</a:t>
            </a:r>
            <a:endParaRPr lang="id-ID" b="1" dirty="0">
              <a:latin typeface="+mn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73BA3D3-C84A-F8C1-EFA3-53ADB9E71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821" y="1257299"/>
            <a:ext cx="9118357" cy="5359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159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317D3F-6D90-2A88-FE2A-89A67FF5A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8" t="1458" r="3519"/>
          <a:stretch/>
        </p:blipFill>
        <p:spPr>
          <a:xfrm>
            <a:off x="1783976" y="903644"/>
            <a:ext cx="10408024" cy="59543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CD717A-613F-8568-A3D9-0D31DB300A68}"/>
              </a:ext>
            </a:extLst>
          </p:cNvPr>
          <p:cNvSpPr/>
          <p:nvPr/>
        </p:nvSpPr>
        <p:spPr>
          <a:xfrm>
            <a:off x="241300" y="266701"/>
            <a:ext cx="5651500" cy="1917699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</a:rPr>
              <a:t>Teknis </a:t>
            </a:r>
            <a:r>
              <a:rPr lang="en-US" sz="2800" b="1" dirty="0" err="1">
                <a:solidFill>
                  <a:schemeClr val="tx1"/>
                </a:solidFill>
              </a:rPr>
              <a:t>Pengumpulan</a:t>
            </a:r>
            <a:r>
              <a:rPr lang="en-US" sz="2800" b="1" dirty="0">
                <a:solidFill>
                  <a:schemeClr val="tx1"/>
                </a:solidFill>
              </a:rPr>
              <a:t> Hasil</a:t>
            </a:r>
          </a:p>
          <a:p>
            <a:pPr marL="0" indent="0" algn="ctr">
              <a:buNone/>
            </a:pPr>
            <a:endParaRPr lang="id-ID" sz="1200" b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id-ID" sz="2000" dirty="0">
                <a:solidFill>
                  <a:schemeClr val="tx1"/>
                </a:solidFill>
              </a:rPr>
              <a:t>Hasil pengerjaan peserta akan diupload ke repository github. Dan jangan lupa untuk commit setiap 30 menit sekali.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4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</TotalTime>
  <Words>452</Words>
  <Application>Microsoft Office PowerPoint</Application>
  <PresentationFormat>Widescreen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DAFTAR MODULE</vt:lpstr>
      <vt:lpstr>MODULE CLIENT SIDE</vt:lpstr>
      <vt:lpstr>MODULE SERVER SIDE</vt:lpstr>
      <vt:lpstr>Sistem penilaian</vt:lpstr>
      <vt:lpstr>PowerPoint Presentation</vt:lpstr>
      <vt:lpstr>Schedule Pelaksanaan Lomba</vt:lpstr>
      <vt:lpstr>Spesifikasi Software</vt:lpstr>
      <vt:lpstr>Spesifikasi Hardware</vt:lpstr>
      <vt:lpstr>PLUGIN VSCODE</vt:lpstr>
      <vt:lpstr>Posisi Kamera</vt:lpstr>
      <vt:lpstr>Posisi Kamera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Meeting</dc:title>
  <dc:creator>Naistudio</dc:creator>
  <cp:lastModifiedBy>David Naista</cp:lastModifiedBy>
  <cp:revision>42</cp:revision>
  <dcterms:created xsi:type="dcterms:W3CDTF">2021-03-08T00:21:45Z</dcterms:created>
  <dcterms:modified xsi:type="dcterms:W3CDTF">2026-06-01T11:13:46Z</dcterms:modified>
</cp:coreProperties>
</file>